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121D"/>
    <a:srgbClr val="2900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p:scale>
          <a:sx n="65" d="100"/>
          <a:sy n="65" d="100"/>
        </p:scale>
        <p:origin x="1704" y="8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0631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run one of the most sophisticated engineering organizations in the world. You invested $1.7 billion in R&amp;D in 2023. You operate the second largest MySQL fleet outside of Meta. The talent you've assembled is best-in-class at every level.
In November, Shopify called a Code Red.
Farhan described it on The Pragmatic Engineer Podcast. His words: 'We didn't think it was going to be 7 months — we thought it was going to be maybe 3 months. And we took something between like 30 to 50% of engineering. We didn't have an actual number.'
Run that math. Seven months. Thirty to fifty percent of a $1.7 billion engineering investment. Between $297 million and $496 million of engineering capacity — frozen. No feature velocity. No product progress.
The org didn't know how much of itself was frozen. It just knew it had stopped.
They stabilized.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worked your way out. Seven months of hard, focused effort — and what came out the other side wasn't just stable infrastructure. It was institutional knowledge. Shopify understood exactly what broke, why it compounded, and what to watch for next time.
Now you've put AI into that same engineering org.
Your engineers are testing 10 approaches where they used to test 2. That's not a complaint — that's the point of AI tooling. Output accelerates, options multiply, velocity returns. But the review capacity that caught the last Code Red doesn't grow with the output. It stays flat while everything around it speeds up.
And here's where it gets harder. The code shipping into your infrastructure today was generated in seconds. The engineer who triggered the PR didn't write it line by line — they directed it, reviewed the structure, and moved on. When the next exception cycle starts compounding, the team looking at it won't have the authorship context to trace it back. They'll be refactoring code that nobody truly owns.
You worked your way out of Code Red because your team understood your own system. AI is quietly changing the conditions that made that possible.
The next one arrives faster. And it's a lot harder to climb out of.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teams treat code quality as an audit. Scan after merge, triage the backlog, never catch up. That approach worked when engineers wrote every line. It breaks down when AI is generating PRs faster than reviewers can open them.
Sonar puts the gate at the PR. Before AI-generated code reaches your infrastructure. Every PR — human or AI-generated — runs through the same quality and security rules before a human reviewer touches it. The exception counts that compounded into your Code Red get caught before they enter the codebase.
That's what fixes your review bottleneck. You can't hire your way out of it — AI output scales faster than headcount. But Sonar scales review quality. Your engineers stop drowning in vulnerability patterns and start focusing on what only a human can assess. Logic. Architecture. Intent.
I want to show you what that catch looks like. Not a diagram. The actual issue, in the editor, before the PR exists.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live demo environment.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just watched Sonar catch four critical issues in an AI-generated file before a single human reviewer touched it. No pipeline. No ticket. No meeting. The developer sees it, fixes it, moves on.
Now take that into your next enterprise procurement conversation.
Shopify Plus is in deals right now where the security team on the other side of the table is asking how a $1.7 billion engineering org governs AI-generated code at scale. That question doesn't have an easy answer today. And when it comes up in due diligence, the 7-month Code Red is already in the room.
Sonar changes that answer. Every PR reviewed. Every AI-generated line verified. Before it reaches your infrastructure. That's not a developer tool story — that's an enterprise governance story. And it's one your sales team can tell in a single sentence.
So Farhan — how does your team answer the question of how Shopify governs AI-generated code at scale?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90000"/>
          </a:blip>
          <a:stretch>
            <a:fillRect/>
          </a:stretch>
        </p:blipFill>
        <p:spPr>
          <a:xfrm>
            <a:off x="8283334" y="4414838"/>
            <a:ext cx="1443038" cy="457200"/>
          </a:xfrm>
          <a:prstGeom prst="rect">
            <a:avLst/>
          </a:prstGeom>
        </p:spPr>
      </p:pic>
      <p:sp>
        <p:nvSpPr>
          <p:cNvPr id="3" name="Shape 0"/>
          <p:cNvSpPr/>
          <p:nvPr/>
        </p:nvSpPr>
        <p:spPr>
          <a:xfrm>
            <a:off x="8877299" y="5200443"/>
            <a:ext cx="533400" cy="28575"/>
          </a:xfrm>
          <a:prstGeom prst="roundRect">
            <a:avLst>
              <a:gd name="adj" fmla="val 50000"/>
            </a:avLst>
          </a:prstGeom>
          <a:solidFill>
            <a:srgbClr val="D3121D"/>
          </a:solidFill>
          <a:ln/>
        </p:spPr>
        <p:txBody>
          <a:bodyPr/>
          <a:lstStyle/>
          <a:p>
            <a:endParaRPr lang="en-US"/>
          </a:p>
        </p:txBody>
      </p:sp>
      <p:sp>
        <p:nvSpPr>
          <p:cNvPr id="4" name="Text 1"/>
          <p:cNvSpPr/>
          <p:nvPr/>
        </p:nvSpPr>
        <p:spPr>
          <a:xfrm>
            <a:off x="6552060" y="5557423"/>
            <a:ext cx="5183877" cy="1223547"/>
          </a:xfrm>
          <a:prstGeom prst="rect">
            <a:avLst/>
          </a:prstGeom>
          <a:noFill/>
          <a:ln/>
        </p:spPr>
        <p:txBody>
          <a:bodyPr wrap="square" lIns="25400" tIns="25400" rIns="25400" bIns="25400" rtlCol="0" anchor="t">
            <a:noAutofit/>
          </a:bodyPr>
          <a:lstStyle/>
          <a:p>
            <a:pPr marL="0" indent="0" algn="ctr">
              <a:buNone/>
            </a:pPr>
            <a:r>
              <a:rPr lang="en-US" sz="2800" kern="0" spc="27" dirty="0">
                <a:solidFill>
                  <a:srgbClr val="290042">
                    <a:alpha val="55000"/>
                  </a:srgbClr>
                </a:solidFill>
                <a:latin typeface="Poppins" pitchFamily="34" charset="0"/>
                <a:ea typeface="Poppins" pitchFamily="34" charset="-122"/>
                <a:cs typeface="Poppins" pitchFamily="34" charset="-120"/>
              </a:rPr>
              <a:t>SE Interview</a:t>
            </a:r>
          </a:p>
          <a:p>
            <a:pPr algn="ctr"/>
            <a:r>
              <a:rPr lang="en-US" sz="2800" kern="0" spc="27" dirty="0">
                <a:solidFill>
                  <a:srgbClr val="290042">
                    <a:alpha val="55000"/>
                  </a:srgbClr>
                </a:solidFill>
                <a:latin typeface="Poppins" pitchFamily="34" charset="0"/>
                <a:ea typeface="Poppins" pitchFamily="34" charset="-122"/>
                <a:cs typeface="Poppins" pitchFamily="34" charset="-120"/>
              </a:rPr>
              <a:t>Kevin Horner</a:t>
            </a:r>
            <a:br>
              <a:rPr lang="en-US" sz="2800" kern="0" spc="27" dirty="0">
                <a:solidFill>
                  <a:srgbClr val="290042">
                    <a:alpha val="55000"/>
                  </a:srgbClr>
                </a:solidFill>
                <a:latin typeface="Poppins" pitchFamily="34" charset="0"/>
                <a:ea typeface="Poppins" pitchFamily="34" charset="-122"/>
                <a:cs typeface="Poppins" pitchFamily="34" charset="-120"/>
              </a:rPr>
            </a:br>
            <a:r>
              <a:rPr lang="en-US" sz="2800" kern="0" spc="27" dirty="0">
                <a:solidFill>
                  <a:srgbClr val="290042">
                    <a:alpha val="55000"/>
                  </a:srgbClr>
                </a:solidFill>
                <a:latin typeface="Poppins" pitchFamily="34" charset="0"/>
                <a:ea typeface="Poppins" pitchFamily="34" charset="-122"/>
                <a:cs typeface="Poppins" pitchFamily="34" charset="-120"/>
              </a:rPr>
              <a:t>April 27, 2026</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14400"/>
            <a:ext cx="16482060" cy="38100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D3121D"/>
                </a:solidFill>
                <a:latin typeface="Poppins" pitchFamily="34" charset="0"/>
                <a:ea typeface="Poppins" pitchFamily="34" charset="-122"/>
                <a:cs typeface="Poppins" pitchFamily="34" charset="-120"/>
              </a:rPr>
              <a:t>AGENDA</a:t>
            </a:r>
            <a:endParaRPr lang="en-US" sz="1800" dirty="0"/>
          </a:p>
        </p:txBody>
      </p:sp>
      <p:sp>
        <p:nvSpPr>
          <p:cNvPr id="3" name="Shape 1"/>
          <p:cNvSpPr/>
          <p:nvPr/>
        </p:nvSpPr>
        <p:spPr>
          <a:xfrm>
            <a:off x="1143000" y="2093119"/>
            <a:ext cx="16002000" cy="9525"/>
          </a:xfrm>
          <a:prstGeom prst="rect">
            <a:avLst/>
          </a:prstGeom>
          <a:solidFill>
            <a:srgbClr val="290042">
              <a:alpha val="12000"/>
            </a:srgbClr>
          </a:solidFill>
          <a:ln/>
        </p:spPr>
        <p:txBody>
          <a:bodyPr/>
          <a:lstStyle/>
          <a:p>
            <a:endParaRPr lang="en-US"/>
          </a:p>
        </p:txBody>
      </p:sp>
      <p:sp>
        <p:nvSpPr>
          <p:cNvPr id="4" name="Text 2"/>
          <p:cNvSpPr/>
          <p:nvPr/>
        </p:nvSpPr>
        <p:spPr>
          <a:xfrm>
            <a:off x="1143000" y="2619375"/>
            <a:ext cx="533400" cy="381000"/>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D3121D"/>
                </a:solidFill>
                <a:latin typeface="Poppins" pitchFamily="34" charset="0"/>
                <a:ea typeface="Poppins" pitchFamily="34" charset="-122"/>
                <a:cs typeface="Poppins" pitchFamily="34" charset="-120"/>
              </a:rPr>
              <a:t>01</a:t>
            </a:r>
            <a:endParaRPr lang="en-US" sz="1800" dirty="0"/>
          </a:p>
        </p:txBody>
      </p:sp>
      <p:sp>
        <p:nvSpPr>
          <p:cNvPr id="5" name="Text 3"/>
          <p:cNvSpPr/>
          <p:nvPr/>
        </p:nvSpPr>
        <p:spPr>
          <a:xfrm>
            <a:off x="2057400" y="2445544"/>
            <a:ext cx="2040359" cy="728663"/>
          </a:xfrm>
          <a:prstGeom prst="rect">
            <a:avLst/>
          </a:prstGeom>
          <a:noFill/>
          <a:ln/>
        </p:spPr>
        <p:txBody>
          <a:bodyPr wrap="square" lIns="25400" tIns="25400" rIns="25400" bIns="25400" rtlCol="0" anchor="t">
            <a:normAutofit/>
          </a:bodyPr>
          <a:lstStyle/>
          <a:p>
            <a:pPr marL="0" indent="0" algn="l">
              <a:buNone/>
            </a:pPr>
            <a:r>
              <a:rPr lang="en-US" sz="3600" b="1" kern="0" spc="-72" dirty="0">
                <a:solidFill>
                  <a:srgbClr val="290042"/>
                </a:solidFill>
                <a:latin typeface="Poppins" pitchFamily="34" charset="0"/>
                <a:ea typeface="Poppins" pitchFamily="34" charset="-122"/>
                <a:cs typeface="Poppins" pitchFamily="34" charset="-120"/>
              </a:rPr>
              <a:t>The Cost</a:t>
            </a:r>
            <a:endParaRPr lang="en-US" sz="3600" dirty="0"/>
          </a:p>
        </p:txBody>
      </p:sp>
      <p:sp>
        <p:nvSpPr>
          <p:cNvPr id="6" name="Shape 4"/>
          <p:cNvSpPr/>
          <p:nvPr/>
        </p:nvSpPr>
        <p:spPr>
          <a:xfrm>
            <a:off x="1143000" y="3479006"/>
            <a:ext cx="16002000" cy="9525"/>
          </a:xfrm>
          <a:prstGeom prst="rect">
            <a:avLst/>
          </a:prstGeom>
          <a:solidFill>
            <a:srgbClr val="290042">
              <a:alpha val="12000"/>
            </a:srgbClr>
          </a:solidFill>
          <a:ln/>
        </p:spPr>
        <p:txBody>
          <a:bodyPr/>
          <a:lstStyle/>
          <a:p>
            <a:endParaRPr lang="en-US"/>
          </a:p>
        </p:txBody>
      </p:sp>
      <p:sp>
        <p:nvSpPr>
          <p:cNvPr id="7" name="Text 5"/>
          <p:cNvSpPr/>
          <p:nvPr/>
        </p:nvSpPr>
        <p:spPr>
          <a:xfrm>
            <a:off x="1143000" y="4005262"/>
            <a:ext cx="533400" cy="381000"/>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D3121D"/>
                </a:solidFill>
                <a:latin typeface="Poppins" pitchFamily="34" charset="0"/>
                <a:ea typeface="Poppins" pitchFamily="34" charset="-122"/>
                <a:cs typeface="Poppins" pitchFamily="34" charset="-120"/>
              </a:rPr>
              <a:t>02</a:t>
            </a:r>
            <a:endParaRPr lang="en-US" sz="1800" dirty="0"/>
          </a:p>
        </p:txBody>
      </p:sp>
      <p:sp>
        <p:nvSpPr>
          <p:cNvPr id="8" name="Text 6"/>
          <p:cNvSpPr/>
          <p:nvPr/>
        </p:nvSpPr>
        <p:spPr>
          <a:xfrm>
            <a:off x="2057400" y="3831431"/>
            <a:ext cx="1856556" cy="728663"/>
          </a:xfrm>
          <a:prstGeom prst="rect">
            <a:avLst/>
          </a:prstGeom>
          <a:noFill/>
          <a:ln/>
        </p:spPr>
        <p:txBody>
          <a:bodyPr wrap="square" lIns="25400" tIns="25400" rIns="25400" bIns="25400" rtlCol="0" anchor="t">
            <a:normAutofit/>
          </a:bodyPr>
          <a:lstStyle/>
          <a:p>
            <a:pPr marL="0" indent="0" algn="l">
              <a:buNone/>
            </a:pPr>
            <a:r>
              <a:rPr lang="en-US" sz="3600" b="1" kern="0" spc="-72" dirty="0">
                <a:solidFill>
                  <a:srgbClr val="290042"/>
                </a:solidFill>
                <a:latin typeface="Poppins" pitchFamily="34" charset="0"/>
                <a:ea typeface="Poppins" pitchFamily="34" charset="-122"/>
                <a:cs typeface="Poppins" pitchFamily="34" charset="-120"/>
              </a:rPr>
              <a:t>AI Scale</a:t>
            </a:r>
            <a:endParaRPr lang="en-US" sz="3600" dirty="0"/>
          </a:p>
        </p:txBody>
      </p:sp>
      <p:sp>
        <p:nvSpPr>
          <p:cNvPr id="9" name="Shape 7"/>
          <p:cNvSpPr/>
          <p:nvPr/>
        </p:nvSpPr>
        <p:spPr>
          <a:xfrm>
            <a:off x="1143000" y="4864894"/>
            <a:ext cx="16002000" cy="9525"/>
          </a:xfrm>
          <a:prstGeom prst="rect">
            <a:avLst/>
          </a:prstGeom>
          <a:solidFill>
            <a:srgbClr val="290042">
              <a:alpha val="12000"/>
            </a:srgbClr>
          </a:solidFill>
          <a:ln/>
        </p:spPr>
        <p:txBody>
          <a:bodyPr/>
          <a:lstStyle/>
          <a:p>
            <a:endParaRPr lang="en-US"/>
          </a:p>
        </p:txBody>
      </p:sp>
      <p:sp>
        <p:nvSpPr>
          <p:cNvPr id="10" name="Text 8"/>
          <p:cNvSpPr/>
          <p:nvPr/>
        </p:nvSpPr>
        <p:spPr>
          <a:xfrm>
            <a:off x="1143000" y="5391150"/>
            <a:ext cx="533400" cy="381000"/>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D3121D"/>
                </a:solidFill>
                <a:latin typeface="Poppins" pitchFamily="34" charset="0"/>
                <a:ea typeface="Poppins" pitchFamily="34" charset="-122"/>
                <a:cs typeface="Poppins" pitchFamily="34" charset="-120"/>
              </a:rPr>
              <a:t>03</a:t>
            </a:r>
            <a:endParaRPr lang="en-US" sz="1800" dirty="0"/>
          </a:p>
        </p:txBody>
      </p:sp>
      <p:sp>
        <p:nvSpPr>
          <p:cNvPr id="11" name="Text 9"/>
          <p:cNvSpPr/>
          <p:nvPr/>
        </p:nvSpPr>
        <p:spPr>
          <a:xfrm>
            <a:off x="2057400" y="5217319"/>
            <a:ext cx="2866042" cy="728663"/>
          </a:xfrm>
          <a:prstGeom prst="rect">
            <a:avLst/>
          </a:prstGeom>
          <a:noFill/>
          <a:ln/>
        </p:spPr>
        <p:txBody>
          <a:bodyPr wrap="square" lIns="25400" tIns="25400" rIns="25400" bIns="25400" rtlCol="0" anchor="t">
            <a:normAutofit/>
          </a:bodyPr>
          <a:lstStyle/>
          <a:p>
            <a:pPr marL="0" indent="0" algn="l">
              <a:buNone/>
            </a:pPr>
            <a:r>
              <a:rPr lang="en-US" sz="3600" b="1" kern="0" spc="-72" dirty="0">
                <a:solidFill>
                  <a:srgbClr val="290042"/>
                </a:solidFill>
                <a:latin typeface="Poppins" pitchFamily="34" charset="0"/>
                <a:ea typeface="Poppins" pitchFamily="34" charset="-122"/>
                <a:cs typeface="Poppins" pitchFamily="34" charset="-120"/>
              </a:rPr>
              <a:t>The Solution</a:t>
            </a:r>
            <a:endParaRPr lang="en-US" sz="3600" dirty="0"/>
          </a:p>
        </p:txBody>
      </p:sp>
      <p:sp>
        <p:nvSpPr>
          <p:cNvPr id="12" name="Shape 10"/>
          <p:cNvSpPr/>
          <p:nvPr/>
        </p:nvSpPr>
        <p:spPr>
          <a:xfrm>
            <a:off x="1143000" y="6250781"/>
            <a:ext cx="16002000" cy="9525"/>
          </a:xfrm>
          <a:prstGeom prst="rect">
            <a:avLst/>
          </a:prstGeom>
          <a:solidFill>
            <a:srgbClr val="290042">
              <a:alpha val="12000"/>
            </a:srgbClr>
          </a:solidFill>
          <a:ln/>
        </p:spPr>
        <p:txBody>
          <a:bodyPr/>
          <a:lstStyle/>
          <a:p>
            <a:endParaRPr lang="en-US"/>
          </a:p>
        </p:txBody>
      </p:sp>
      <p:sp>
        <p:nvSpPr>
          <p:cNvPr id="13" name="Text 11"/>
          <p:cNvSpPr/>
          <p:nvPr/>
        </p:nvSpPr>
        <p:spPr>
          <a:xfrm>
            <a:off x="1143000" y="6777038"/>
            <a:ext cx="533400" cy="381000"/>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D3121D"/>
                </a:solidFill>
                <a:latin typeface="Poppins" pitchFamily="34" charset="0"/>
                <a:ea typeface="Poppins" pitchFamily="34" charset="-122"/>
                <a:cs typeface="Poppins" pitchFamily="34" charset="-120"/>
              </a:rPr>
              <a:t>04</a:t>
            </a:r>
            <a:endParaRPr lang="en-US" sz="1800" dirty="0"/>
          </a:p>
        </p:txBody>
      </p:sp>
      <p:sp>
        <p:nvSpPr>
          <p:cNvPr id="14" name="Text 12"/>
          <p:cNvSpPr/>
          <p:nvPr/>
        </p:nvSpPr>
        <p:spPr>
          <a:xfrm>
            <a:off x="2057400" y="6603206"/>
            <a:ext cx="1429122" cy="728663"/>
          </a:xfrm>
          <a:prstGeom prst="rect">
            <a:avLst/>
          </a:prstGeom>
          <a:noFill/>
          <a:ln/>
        </p:spPr>
        <p:txBody>
          <a:bodyPr wrap="square" lIns="25400" tIns="25400" rIns="25400" bIns="25400" rtlCol="0" anchor="t">
            <a:normAutofit/>
          </a:bodyPr>
          <a:lstStyle/>
          <a:p>
            <a:pPr marL="0" indent="0" algn="l">
              <a:buNone/>
            </a:pPr>
            <a:r>
              <a:rPr lang="en-US" sz="3600" b="1" kern="0" spc="-72" dirty="0">
                <a:solidFill>
                  <a:srgbClr val="290042"/>
                </a:solidFill>
                <a:latin typeface="Poppins" pitchFamily="34" charset="0"/>
                <a:ea typeface="Poppins" pitchFamily="34" charset="-122"/>
                <a:cs typeface="Poppins" pitchFamily="34" charset="-120"/>
              </a:rPr>
              <a:t>Demo</a:t>
            </a:r>
            <a:endParaRPr lang="en-US" sz="3600" dirty="0"/>
          </a:p>
        </p:txBody>
      </p:sp>
      <p:sp>
        <p:nvSpPr>
          <p:cNvPr id="15" name="Shape 13"/>
          <p:cNvSpPr/>
          <p:nvPr/>
        </p:nvSpPr>
        <p:spPr>
          <a:xfrm>
            <a:off x="1143000" y="9022556"/>
            <a:ext cx="16002000" cy="9525"/>
          </a:xfrm>
          <a:prstGeom prst="rect">
            <a:avLst/>
          </a:prstGeom>
          <a:solidFill>
            <a:srgbClr val="290042">
              <a:alpha val="12000"/>
            </a:srgbClr>
          </a:solidFill>
          <a:ln/>
        </p:spPr>
        <p:txBody>
          <a:bodyPr/>
          <a:lstStyle/>
          <a:p>
            <a:endParaRPr lang="en-US"/>
          </a:p>
        </p:txBody>
      </p:sp>
      <p:sp>
        <p:nvSpPr>
          <p:cNvPr id="16" name="Shape 14"/>
          <p:cNvSpPr/>
          <p:nvPr/>
        </p:nvSpPr>
        <p:spPr>
          <a:xfrm>
            <a:off x="1143000" y="7636669"/>
            <a:ext cx="16002000" cy="9525"/>
          </a:xfrm>
          <a:prstGeom prst="rect">
            <a:avLst/>
          </a:prstGeom>
          <a:solidFill>
            <a:srgbClr val="290042">
              <a:alpha val="12000"/>
            </a:srgbClr>
          </a:solidFill>
          <a:ln/>
        </p:spPr>
        <p:txBody>
          <a:bodyPr/>
          <a:lstStyle/>
          <a:p>
            <a:endParaRPr lang="en-US"/>
          </a:p>
        </p:txBody>
      </p:sp>
      <p:sp>
        <p:nvSpPr>
          <p:cNvPr id="17" name="Text 15"/>
          <p:cNvSpPr/>
          <p:nvPr/>
        </p:nvSpPr>
        <p:spPr>
          <a:xfrm>
            <a:off x="1143000" y="8162925"/>
            <a:ext cx="533400" cy="381000"/>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D3121D"/>
                </a:solidFill>
                <a:latin typeface="Poppins" pitchFamily="34" charset="0"/>
                <a:ea typeface="Poppins" pitchFamily="34" charset="-122"/>
                <a:cs typeface="Poppins" pitchFamily="34" charset="-120"/>
              </a:rPr>
              <a:t>05</a:t>
            </a:r>
            <a:endParaRPr lang="en-US" sz="1800" dirty="0"/>
          </a:p>
        </p:txBody>
      </p:sp>
      <p:sp>
        <p:nvSpPr>
          <p:cNvPr id="18" name="Text 16"/>
          <p:cNvSpPr/>
          <p:nvPr/>
        </p:nvSpPr>
        <p:spPr>
          <a:xfrm>
            <a:off x="2057400" y="7989094"/>
            <a:ext cx="1110853" cy="728663"/>
          </a:xfrm>
          <a:prstGeom prst="rect">
            <a:avLst/>
          </a:prstGeom>
          <a:noFill/>
          <a:ln/>
        </p:spPr>
        <p:txBody>
          <a:bodyPr wrap="square" lIns="25400" tIns="25400" rIns="25400" bIns="25400" rtlCol="0" anchor="t">
            <a:normAutofit/>
          </a:bodyPr>
          <a:lstStyle/>
          <a:p>
            <a:pPr marL="0" indent="0" algn="l">
              <a:buNone/>
            </a:pPr>
            <a:r>
              <a:rPr lang="en-US" sz="3600" b="1" kern="0" spc="-72" dirty="0">
                <a:solidFill>
                  <a:srgbClr val="290042"/>
                </a:solidFill>
                <a:latin typeface="Poppins" pitchFamily="34" charset="0"/>
                <a:ea typeface="Poppins" pitchFamily="34" charset="-122"/>
                <a:cs typeface="Poppins" pitchFamily="34" charset="-120"/>
              </a:rPr>
              <a:t>Q&amp;A</a:t>
            </a:r>
            <a:endParaRPr lang="en-US" sz="3600" dirty="0"/>
          </a:p>
        </p:txBody>
      </p:sp>
      <p:pic>
        <p:nvPicPr>
          <p:cNvPr id="21" name="Image 1" descr="preencoded.png">
            <a:extLst>
              <a:ext uri="{FF2B5EF4-FFF2-40B4-BE49-F238E27FC236}">
                <a16:creationId xmlns:a16="http://schemas.microsoft.com/office/drawing/2014/main" id="{6DA6C830-9448-955E-214D-19F0FB38C2CF}"/>
              </a:ext>
            </a:extLst>
          </p:cNvPr>
          <p:cNvPicPr>
            <a:picLocks noChangeAspect="1"/>
          </p:cNvPicPr>
          <p:nvPr/>
        </p:nvPicPr>
        <p:blipFill>
          <a:blip r:embed="rId3"/>
          <a:stretch>
            <a:fillRect/>
          </a:stretch>
        </p:blipFill>
        <p:spPr>
          <a:xfrm>
            <a:off x="15962709" y="9296400"/>
            <a:ext cx="1563291" cy="4953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67475" y="0"/>
            <a:ext cx="9525" cy="10287000"/>
          </a:xfrm>
          <a:prstGeom prst="rect">
            <a:avLst/>
          </a:prstGeom>
          <a:solidFill>
            <a:srgbClr val="290042">
              <a:alpha val="12000"/>
            </a:srgbClr>
          </a:solidFill>
          <a:ln/>
        </p:spPr>
        <p:txBody>
          <a:bodyPr/>
          <a:lstStyle/>
          <a:p>
            <a:endParaRPr lang="en-US"/>
          </a:p>
        </p:txBody>
      </p:sp>
      <p:sp>
        <p:nvSpPr>
          <p:cNvPr id="3" name="Text 1"/>
          <p:cNvSpPr/>
          <p:nvPr/>
        </p:nvSpPr>
        <p:spPr>
          <a:xfrm>
            <a:off x="1143000" y="914400"/>
            <a:ext cx="4699349" cy="38100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D3121D"/>
                </a:solidFill>
                <a:latin typeface="Poppins" pitchFamily="34" charset="0"/>
                <a:ea typeface="Poppins" pitchFamily="34" charset="-122"/>
                <a:cs typeface="Poppins" pitchFamily="34" charset="-120"/>
              </a:rPr>
              <a:t>THE PROBLEM</a:t>
            </a:r>
            <a:endParaRPr lang="en-US" sz="1800" dirty="0"/>
          </a:p>
        </p:txBody>
      </p:sp>
      <p:sp>
        <p:nvSpPr>
          <p:cNvPr id="4" name="Text 2"/>
          <p:cNvSpPr/>
          <p:nvPr/>
        </p:nvSpPr>
        <p:spPr>
          <a:xfrm>
            <a:off x="1143000" y="1485900"/>
            <a:ext cx="4830832" cy="2461022"/>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4500" b="1" kern="0" spc="-112" dirty="0">
                <a:solidFill>
                  <a:srgbClr val="290042"/>
                </a:solidFill>
                <a:latin typeface="Poppins" pitchFamily="34" charset="0"/>
                <a:ea typeface="Poppins" pitchFamily="34" charset="-122"/>
                <a:cs typeface="Poppins" pitchFamily="34" charset="-120"/>
              </a:rPr>
              <a:t>The Cost of Shipping Faster Than You Can See</a:t>
            </a:r>
            <a:endParaRPr lang="en-US" sz="4500" dirty="0"/>
          </a:p>
        </p:txBody>
      </p:sp>
      <p:pic>
        <p:nvPicPr>
          <p:cNvPr id="5" name="Image 0" descr="preencoded.png"/>
          <p:cNvPicPr>
            <a:picLocks noChangeAspect="1"/>
          </p:cNvPicPr>
          <p:nvPr/>
        </p:nvPicPr>
        <p:blipFill>
          <a:blip r:embed="rId3"/>
          <a:stretch>
            <a:fillRect/>
          </a:stretch>
        </p:blipFill>
        <p:spPr>
          <a:xfrm>
            <a:off x="1143000" y="9029700"/>
            <a:ext cx="1734220" cy="495300"/>
          </a:xfrm>
          <a:prstGeom prst="rect">
            <a:avLst/>
          </a:prstGeom>
        </p:spPr>
      </p:pic>
      <p:sp>
        <p:nvSpPr>
          <p:cNvPr id="6" name="Shape 3"/>
          <p:cNvSpPr/>
          <p:nvPr/>
        </p:nvSpPr>
        <p:spPr>
          <a:xfrm>
            <a:off x="7239000" y="1712911"/>
            <a:ext cx="9906000" cy="9525"/>
          </a:xfrm>
          <a:prstGeom prst="rect">
            <a:avLst/>
          </a:prstGeom>
          <a:solidFill>
            <a:srgbClr val="290042">
              <a:alpha val="12000"/>
            </a:srgbClr>
          </a:solidFill>
          <a:ln/>
        </p:spPr>
        <p:txBody>
          <a:bodyPr/>
          <a:lstStyle/>
          <a:p>
            <a:endParaRPr lang="en-US"/>
          </a:p>
        </p:txBody>
      </p:sp>
      <p:sp>
        <p:nvSpPr>
          <p:cNvPr id="7" name="Text 4"/>
          <p:cNvSpPr/>
          <p:nvPr/>
        </p:nvSpPr>
        <p:spPr>
          <a:xfrm>
            <a:off x="7239000" y="2065336"/>
            <a:ext cx="10203180" cy="800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000" b="1" kern="0" spc="-210" dirty="0">
                <a:solidFill>
                  <a:srgbClr val="290042"/>
                </a:solidFill>
                <a:latin typeface="Poppins" pitchFamily="34" charset="0"/>
                <a:ea typeface="Poppins" pitchFamily="34" charset="-122"/>
                <a:cs typeface="Poppins" pitchFamily="34" charset="-120"/>
              </a:rPr>
              <a:t>$1.7</a:t>
            </a:r>
            <a:r>
              <a:rPr lang="en-US" sz="3600" kern="0" spc="-210" dirty="0">
                <a:solidFill>
                  <a:srgbClr val="290042">
                    <a:alpha val="45000"/>
                  </a:srgbClr>
                </a:solidFill>
                <a:latin typeface="Poppins" pitchFamily="34" charset="0"/>
                <a:ea typeface="Poppins" pitchFamily="34" charset="-122"/>
                <a:cs typeface="Poppins" pitchFamily="34" charset="-120"/>
              </a:rPr>
              <a:t>B</a:t>
            </a:r>
            <a:endParaRPr lang="en-US" sz="6000" dirty="0"/>
          </a:p>
        </p:txBody>
      </p:sp>
      <p:sp>
        <p:nvSpPr>
          <p:cNvPr id="8" name="Text 5"/>
          <p:cNvSpPr/>
          <p:nvPr/>
        </p:nvSpPr>
        <p:spPr>
          <a:xfrm>
            <a:off x="7239000" y="2903536"/>
            <a:ext cx="10203180" cy="434280"/>
          </a:xfrm>
          <a:prstGeom prst="rect">
            <a:avLst/>
          </a:prstGeom>
          <a:noFill/>
          <a:ln/>
        </p:spPr>
        <p:txBody>
          <a:bodyPr wrap="square" lIns="25400" tIns="25400" rIns="25400" bIns="25400" rtlCol="0" anchor="t">
            <a:normAutofit fontScale="92500" lnSpcReduction="10000"/>
          </a:bodyPr>
          <a:lstStyle/>
          <a:p>
            <a:pPr>
              <a:lnSpc>
                <a:spcPct val="130000"/>
              </a:lnSpc>
            </a:pPr>
            <a:r>
              <a:rPr lang="en-US" sz="2400" dirty="0">
                <a:solidFill>
                  <a:srgbClr val="290042">
                    <a:alpha val="70000"/>
                  </a:srgbClr>
                </a:solidFill>
                <a:latin typeface="Poppins" pitchFamily="34" charset="0"/>
                <a:ea typeface="Poppins" pitchFamily="34" charset="-122"/>
                <a:cs typeface="Poppins" pitchFamily="34" charset="-120"/>
              </a:rPr>
              <a:t>R&amp;D investment, 2023</a:t>
            </a:r>
            <a:endParaRPr lang="en-US" sz="2400" dirty="0"/>
          </a:p>
        </p:txBody>
      </p:sp>
      <p:sp>
        <p:nvSpPr>
          <p:cNvPr id="9" name="Shape 6"/>
          <p:cNvSpPr/>
          <p:nvPr/>
        </p:nvSpPr>
        <p:spPr>
          <a:xfrm>
            <a:off x="7239000" y="4040535"/>
            <a:ext cx="9906000" cy="9525"/>
          </a:xfrm>
          <a:prstGeom prst="rect">
            <a:avLst/>
          </a:prstGeom>
          <a:solidFill>
            <a:srgbClr val="290042">
              <a:alpha val="12000"/>
            </a:srgbClr>
          </a:solidFill>
          <a:ln/>
        </p:spPr>
        <p:txBody>
          <a:bodyPr/>
          <a:lstStyle/>
          <a:p>
            <a:endParaRPr lang="en-US"/>
          </a:p>
        </p:txBody>
      </p:sp>
      <p:sp>
        <p:nvSpPr>
          <p:cNvPr id="10" name="Text 7"/>
          <p:cNvSpPr/>
          <p:nvPr/>
        </p:nvSpPr>
        <p:spPr>
          <a:xfrm>
            <a:off x="7239000" y="4392960"/>
            <a:ext cx="10203180" cy="800100"/>
          </a:xfrm>
          <a:prstGeom prst="rect">
            <a:avLst/>
          </a:prstGeom>
          <a:noFill/>
          <a:ln/>
        </p:spPr>
        <p:txBody>
          <a:bodyPr wrap="square" lIns="25400" tIns="25400" rIns="25400" bIns="25400" rtlCol="0" anchor="t">
            <a:normAutofit fontScale="92500" lnSpcReduction="20000"/>
          </a:bodyPr>
          <a:lstStyle/>
          <a:p>
            <a:r>
              <a:rPr lang="en-US" sz="6000" b="1" kern="0" spc="-210" dirty="0">
                <a:solidFill>
                  <a:srgbClr val="290042"/>
                </a:solidFill>
                <a:latin typeface="Poppins" pitchFamily="34" charset="0"/>
                <a:ea typeface="Poppins" pitchFamily="34" charset="-122"/>
                <a:cs typeface="Poppins" pitchFamily="34" charset="-120"/>
              </a:rPr>
              <a:t>7</a:t>
            </a:r>
            <a:r>
              <a:rPr lang="en-US" sz="3600" kern="0" spc="-210" dirty="0">
                <a:solidFill>
                  <a:srgbClr val="290042">
                    <a:alpha val="45000"/>
                  </a:srgbClr>
                </a:solidFill>
                <a:latin typeface="Poppins" pitchFamily="34" charset="0"/>
                <a:ea typeface="Poppins" pitchFamily="34" charset="-122"/>
                <a:cs typeface="Poppins" pitchFamily="34" charset="-120"/>
              </a:rPr>
              <a:t>months</a:t>
            </a:r>
            <a:endParaRPr lang="en-US" sz="6000" dirty="0"/>
          </a:p>
        </p:txBody>
      </p:sp>
      <p:sp>
        <p:nvSpPr>
          <p:cNvPr id="11" name="Text 8"/>
          <p:cNvSpPr/>
          <p:nvPr/>
        </p:nvSpPr>
        <p:spPr>
          <a:xfrm>
            <a:off x="7239000" y="5231160"/>
            <a:ext cx="10203180" cy="43428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400" dirty="0">
                <a:solidFill>
                  <a:srgbClr val="290042">
                    <a:alpha val="70000"/>
                  </a:srgbClr>
                </a:solidFill>
                <a:latin typeface="Poppins" pitchFamily="34" charset="0"/>
                <a:ea typeface="Poppins" pitchFamily="34" charset="-122"/>
                <a:cs typeface="Poppins" pitchFamily="34" charset="-120"/>
              </a:rPr>
              <a:t>30–50% of engineering, frozen</a:t>
            </a:r>
            <a:endParaRPr lang="en-US" sz="2400" dirty="0"/>
          </a:p>
        </p:txBody>
      </p:sp>
      <p:sp>
        <p:nvSpPr>
          <p:cNvPr id="12" name="Text 9"/>
          <p:cNvSpPr/>
          <p:nvPr/>
        </p:nvSpPr>
        <p:spPr>
          <a:xfrm>
            <a:off x="7239000" y="5703540"/>
            <a:ext cx="10203180" cy="381000"/>
          </a:xfrm>
          <a:prstGeom prst="rect">
            <a:avLst/>
          </a:prstGeom>
          <a:noFill/>
          <a:ln/>
        </p:spPr>
        <p:txBody>
          <a:bodyPr wrap="square" lIns="25400" tIns="25400" rIns="25400" bIns="25400" rtlCol="0" anchor="t">
            <a:normAutofit/>
          </a:bodyPr>
          <a:lstStyle/>
          <a:p>
            <a:pPr marL="0" indent="0" algn="l">
              <a:buNone/>
            </a:pPr>
            <a:r>
              <a:rPr lang="en-US" sz="1800" i="1" dirty="0">
                <a:solidFill>
                  <a:srgbClr val="290042">
                    <a:alpha val="45000"/>
                  </a:srgbClr>
                </a:solidFill>
                <a:latin typeface="Poppins" pitchFamily="34" charset="0"/>
                <a:ea typeface="Poppins" pitchFamily="34" charset="-122"/>
                <a:cs typeface="Poppins" pitchFamily="34" charset="-120"/>
              </a:rPr>
              <a:t>Farhan Thawar — The Pragmatic Engineer Podcast</a:t>
            </a:r>
            <a:endParaRPr lang="en-US" sz="1800" dirty="0"/>
          </a:p>
        </p:txBody>
      </p:sp>
      <p:sp>
        <p:nvSpPr>
          <p:cNvPr id="13" name="Shape 10"/>
          <p:cNvSpPr/>
          <p:nvPr/>
        </p:nvSpPr>
        <p:spPr>
          <a:xfrm>
            <a:off x="7239000" y="8617216"/>
            <a:ext cx="9906000" cy="9525"/>
          </a:xfrm>
          <a:prstGeom prst="rect">
            <a:avLst/>
          </a:prstGeom>
          <a:solidFill>
            <a:srgbClr val="290042">
              <a:alpha val="12000"/>
            </a:srgbClr>
          </a:solidFill>
          <a:ln/>
        </p:spPr>
        <p:txBody>
          <a:bodyPr/>
          <a:lstStyle/>
          <a:p>
            <a:endParaRPr lang="en-US"/>
          </a:p>
        </p:txBody>
      </p:sp>
      <p:sp>
        <p:nvSpPr>
          <p:cNvPr id="14" name="Shape 11"/>
          <p:cNvSpPr/>
          <p:nvPr/>
        </p:nvSpPr>
        <p:spPr>
          <a:xfrm>
            <a:off x="7239000" y="6389340"/>
            <a:ext cx="9906000" cy="9525"/>
          </a:xfrm>
          <a:prstGeom prst="rect">
            <a:avLst/>
          </a:prstGeom>
          <a:solidFill>
            <a:srgbClr val="290042">
              <a:alpha val="12000"/>
            </a:srgbClr>
          </a:solidFill>
          <a:ln/>
        </p:spPr>
        <p:txBody>
          <a:bodyPr/>
          <a:lstStyle/>
          <a:p>
            <a:endParaRPr lang="en-US"/>
          </a:p>
        </p:txBody>
      </p:sp>
      <p:sp>
        <p:nvSpPr>
          <p:cNvPr id="15" name="Text 12"/>
          <p:cNvSpPr/>
          <p:nvPr/>
        </p:nvSpPr>
        <p:spPr>
          <a:xfrm>
            <a:off x="7239000" y="6741765"/>
            <a:ext cx="10203180" cy="800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000" b="1" kern="0" spc="-210" dirty="0">
                <a:solidFill>
                  <a:srgbClr val="D3121D"/>
                </a:solidFill>
                <a:latin typeface="Poppins" pitchFamily="34" charset="0"/>
                <a:ea typeface="Poppins" pitchFamily="34" charset="-122"/>
                <a:cs typeface="Poppins" pitchFamily="34" charset="-120"/>
              </a:rPr>
              <a:t>$297</a:t>
            </a:r>
            <a:r>
              <a:rPr lang="en-US" sz="3600" kern="0" spc="-210" dirty="0">
                <a:solidFill>
                  <a:srgbClr val="290042">
                    <a:alpha val="45000"/>
                  </a:srgbClr>
                </a:solidFill>
                <a:latin typeface="Poppins" pitchFamily="34" charset="0"/>
                <a:ea typeface="Poppins" pitchFamily="34" charset="-122"/>
                <a:cs typeface="Poppins" pitchFamily="34" charset="-120"/>
              </a:rPr>
              <a:t>M </a:t>
            </a:r>
            <a:r>
              <a:rPr lang="en-US" sz="6000" b="1" kern="0" spc="-210" dirty="0">
                <a:solidFill>
                  <a:srgbClr val="D3121D"/>
                </a:solidFill>
                <a:latin typeface="Poppins" pitchFamily="34" charset="0"/>
                <a:ea typeface="Poppins" pitchFamily="34" charset="-122"/>
                <a:cs typeface="Poppins" pitchFamily="34" charset="-120"/>
              </a:rPr>
              <a:t>– $496</a:t>
            </a:r>
            <a:r>
              <a:rPr lang="en-US" sz="3600" kern="0" spc="-210" dirty="0">
                <a:solidFill>
                  <a:srgbClr val="290042">
                    <a:alpha val="45000"/>
                  </a:srgbClr>
                </a:solidFill>
                <a:latin typeface="Poppins" pitchFamily="34" charset="0"/>
                <a:ea typeface="Poppins" pitchFamily="34" charset="-122"/>
                <a:cs typeface="Poppins" pitchFamily="34" charset="-120"/>
              </a:rPr>
              <a:t>M</a:t>
            </a:r>
            <a:endParaRPr lang="en-US" sz="6000" dirty="0"/>
          </a:p>
        </p:txBody>
      </p:sp>
      <p:sp>
        <p:nvSpPr>
          <p:cNvPr id="16" name="Text 13"/>
          <p:cNvSpPr/>
          <p:nvPr/>
        </p:nvSpPr>
        <p:spPr>
          <a:xfrm>
            <a:off x="7239000" y="7579965"/>
            <a:ext cx="10203180" cy="43428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400" dirty="0">
                <a:solidFill>
                  <a:srgbClr val="290042">
                    <a:alpha val="70000"/>
                  </a:srgbClr>
                </a:solidFill>
                <a:latin typeface="Poppins" pitchFamily="34" charset="0"/>
                <a:ea typeface="Poppins" pitchFamily="34" charset="-122"/>
                <a:cs typeface="Poppins" pitchFamily="34" charset="-120"/>
              </a:rPr>
              <a:t>of engineering capacity. Frozen.</a:t>
            </a:r>
            <a:endParaRPr lang="en-US" sz="2400" dirty="0"/>
          </a:p>
        </p:txBody>
      </p:sp>
      <p:pic>
        <p:nvPicPr>
          <p:cNvPr id="17" name="Image 1" descr="preencoded.png"/>
          <p:cNvPicPr>
            <a:picLocks noChangeAspect="1"/>
          </p:cNvPicPr>
          <p:nvPr/>
        </p:nvPicPr>
        <p:blipFill>
          <a:blip r:embed="rId4"/>
          <a:stretch>
            <a:fillRect/>
          </a:stretch>
        </p:blipFill>
        <p:spPr>
          <a:xfrm>
            <a:off x="15962709" y="9296401"/>
            <a:ext cx="1563288" cy="495299"/>
          </a:xfrm>
          <a:prstGeom prst="rect">
            <a:avLst/>
          </a:prstGeom>
        </p:spPr>
      </p:pic>
      <p:sp>
        <p:nvSpPr>
          <p:cNvPr id="18" name="Text 9">
            <a:extLst>
              <a:ext uri="{FF2B5EF4-FFF2-40B4-BE49-F238E27FC236}">
                <a16:creationId xmlns:a16="http://schemas.microsoft.com/office/drawing/2014/main" id="{D9B7B51C-C897-78E2-1B70-218D9E9B99D1}"/>
              </a:ext>
            </a:extLst>
          </p:cNvPr>
          <p:cNvSpPr/>
          <p:nvPr/>
        </p:nvSpPr>
        <p:spPr>
          <a:xfrm>
            <a:off x="7239000" y="3332161"/>
            <a:ext cx="10203180" cy="381000"/>
          </a:xfrm>
          <a:prstGeom prst="rect">
            <a:avLst/>
          </a:prstGeom>
          <a:noFill/>
          <a:ln/>
        </p:spPr>
        <p:txBody>
          <a:bodyPr wrap="square" lIns="25400" tIns="25400" rIns="25400" bIns="25400" rtlCol="0" anchor="t">
            <a:normAutofit/>
          </a:bodyPr>
          <a:lstStyle/>
          <a:p>
            <a:r>
              <a:rPr lang="en-US" i="1" dirty="0">
                <a:solidFill>
                  <a:srgbClr val="290042">
                    <a:alpha val="45000"/>
                  </a:srgbClr>
                </a:solidFill>
                <a:latin typeface="Poppins" pitchFamily="34" charset="0"/>
                <a:ea typeface="Poppins" pitchFamily="34" charset="-122"/>
                <a:cs typeface="Poppins" pitchFamily="34" charset="-120"/>
              </a:rPr>
              <a:t>https://</a:t>
            </a:r>
            <a:r>
              <a:rPr lang="en-US" i="1" dirty="0" err="1">
                <a:solidFill>
                  <a:srgbClr val="290042">
                    <a:alpha val="45000"/>
                  </a:srgbClr>
                </a:solidFill>
                <a:latin typeface="Poppins" pitchFamily="34" charset="0"/>
                <a:ea typeface="Poppins" pitchFamily="34" charset="-122"/>
                <a:cs typeface="Poppins" pitchFamily="34" charset="-120"/>
              </a:rPr>
              <a:t>www.shopify.com</a:t>
            </a:r>
            <a:r>
              <a:rPr lang="en-US" i="1" dirty="0">
                <a:solidFill>
                  <a:srgbClr val="290042">
                    <a:alpha val="45000"/>
                  </a:srgbClr>
                </a:solidFill>
                <a:latin typeface="Poppins" pitchFamily="34" charset="0"/>
                <a:ea typeface="Poppins" pitchFamily="34" charset="-122"/>
                <a:cs typeface="Poppins" pitchFamily="34" charset="-120"/>
              </a:rPr>
              <a:t>/toolkit/</a:t>
            </a:r>
            <a:r>
              <a:rPr lang="en-US" i="1" dirty="0" err="1">
                <a:solidFill>
                  <a:srgbClr val="290042">
                    <a:alpha val="45000"/>
                  </a:srgbClr>
                </a:solidFill>
                <a:latin typeface="Poppins" pitchFamily="34" charset="0"/>
                <a:ea typeface="Poppins" pitchFamily="34" charset="-122"/>
                <a:cs typeface="Poppins" pitchFamily="34" charset="-120"/>
              </a:rPr>
              <a:t>cto</a:t>
            </a:r>
            <a:endParaRPr lang="en-US" sz="1800" dirty="0"/>
          </a:p>
        </p:txBody>
      </p:sp>
      <p:sp>
        <p:nvSpPr>
          <p:cNvPr id="19" name="Text 9">
            <a:extLst>
              <a:ext uri="{FF2B5EF4-FFF2-40B4-BE49-F238E27FC236}">
                <a16:creationId xmlns:a16="http://schemas.microsoft.com/office/drawing/2014/main" id="{EAD165D3-808F-AB65-7A1A-65A7941E1814}"/>
              </a:ext>
            </a:extLst>
          </p:cNvPr>
          <p:cNvSpPr/>
          <p:nvPr/>
        </p:nvSpPr>
        <p:spPr>
          <a:xfrm>
            <a:off x="7239000" y="8083266"/>
            <a:ext cx="10203180" cy="381000"/>
          </a:xfrm>
          <a:prstGeom prst="rect">
            <a:avLst/>
          </a:prstGeom>
          <a:noFill/>
          <a:ln/>
        </p:spPr>
        <p:txBody>
          <a:bodyPr wrap="square" lIns="25400" tIns="25400" rIns="25400" bIns="25400" rtlCol="0" anchor="t">
            <a:normAutofit/>
          </a:bodyPr>
          <a:lstStyle/>
          <a:p>
            <a:pPr marL="0" indent="0" algn="l">
              <a:buNone/>
            </a:pPr>
            <a:r>
              <a:rPr lang="en-US" sz="1800" i="1" dirty="0">
                <a:solidFill>
                  <a:srgbClr val="290042">
                    <a:alpha val="45000"/>
                  </a:srgbClr>
                </a:solidFill>
                <a:latin typeface="Poppins" pitchFamily="34" charset="0"/>
                <a:ea typeface="Poppins" pitchFamily="34" charset="-122"/>
                <a:cs typeface="Poppins" pitchFamily="34" charset="-120"/>
              </a:rPr>
              <a:t>Doing the Math</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14" name="Shape 12"/>
          <p:cNvSpPr/>
          <p:nvPr/>
        </p:nvSpPr>
        <p:spPr>
          <a:xfrm>
            <a:off x="11823650" y="3649862"/>
            <a:ext cx="5321350" cy="5036938"/>
          </a:xfrm>
          <a:prstGeom prst="rect">
            <a:avLst/>
          </a:prstGeom>
          <a:solidFill>
            <a:srgbClr val="F7F4FA"/>
          </a:solidFill>
          <a:ln w="9525">
            <a:solidFill>
              <a:srgbClr val="290042">
                <a:alpha val="12000"/>
              </a:srgbClr>
            </a:solidFill>
            <a:prstDash val="solid"/>
          </a:ln>
        </p:spPr>
        <p:txBody>
          <a:bodyPr/>
          <a:lstStyle/>
          <a:p>
            <a:endParaRPr lang="en-US" dirty="0"/>
          </a:p>
        </p:txBody>
      </p:sp>
      <p:sp>
        <p:nvSpPr>
          <p:cNvPr id="2" name="Text 0"/>
          <p:cNvSpPr/>
          <p:nvPr/>
        </p:nvSpPr>
        <p:spPr>
          <a:xfrm>
            <a:off x="1143000" y="914400"/>
            <a:ext cx="16482060" cy="38100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D3121D"/>
                </a:solidFill>
                <a:latin typeface="Poppins" pitchFamily="34" charset="0"/>
                <a:ea typeface="Poppins" pitchFamily="34" charset="-122"/>
                <a:cs typeface="Poppins" pitchFamily="34" charset="-120"/>
              </a:rPr>
              <a:t>THE ESCALATION</a:t>
            </a:r>
            <a:endParaRPr lang="en-US" sz="1800" dirty="0"/>
          </a:p>
        </p:txBody>
      </p:sp>
      <p:sp>
        <p:nvSpPr>
          <p:cNvPr id="3" name="Text 1"/>
          <p:cNvSpPr/>
          <p:nvPr/>
        </p:nvSpPr>
        <p:spPr>
          <a:xfrm>
            <a:off x="1143000" y="1600200"/>
            <a:ext cx="13735050" cy="1478161"/>
          </a:xfrm>
          <a:prstGeom prst="rect">
            <a:avLst/>
          </a:prstGeom>
          <a:noFill/>
          <a:ln/>
        </p:spPr>
        <p:txBody>
          <a:bodyPr wrap="square" lIns="25400" tIns="25400" rIns="25400" bIns="25400" rtlCol="0" anchor="t">
            <a:normAutofit fontScale="92500"/>
          </a:bodyPr>
          <a:lstStyle/>
          <a:p>
            <a:pPr marL="0" indent="0" algn="l">
              <a:lnSpc>
                <a:spcPct val="105000"/>
              </a:lnSpc>
              <a:buNone/>
            </a:pPr>
            <a:r>
              <a:rPr lang="en-US" sz="5400" b="1" kern="0" spc="-162" dirty="0">
                <a:solidFill>
                  <a:srgbClr val="290042"/>
                </a:solidFill>
                <a:latin typeface="Poppins" pitchFamily="34" charset="0"/>
                <a:ea typeface="Poppins" pitchFamily="34" charset="-122"/>
                <a:cs typeface="Poppins" pitchFamily="34" charset="-120"/>
              </a:rPr>
              <a:t>The Next </a:t>
            </a:r>
            <a:r>
              <a:rPr lang="en-US" sz="5400" b="1" kern="0" spc="-162" dirty="0">
                <a:solidFill>
                  <a:srgbClr val="D4121D"/>
                </a:solidFill>
                <a:latin typeface="Poppins" pitchFamily="34" charset="0"/>
                <a:ea typeface="Poppins" pitchFamily="34" charset="-122"/>
                <a:cs typeface="Poppins" pitchFamily="34" charset="-120"/>
              </a:rPr>
              <a:t>Code Red</a:t>
            </a:r>
            <a:r>
              <a:rPr lang="en-US" sz="5400" b="1" kern="0" spc="-162" dirty="0">
                <a:solidFill>
                  <a:srgbClr val="290042"/>
                </a:solidFill>
                <a:latin typeface="Poppins" pitchFamily="34" charset="0"/>
                <a:ea typeface="Poppins" pitchFamily="34" charset="-122"/>
                <a:cs typeface="Poppins" pitchFamily="34" charset="-120"/>
              </a:rPr>
              <a:t> Is Already Being Written</a:t>
            </a:r>
            <a:endParaRPr lang="en-US" sz="5400" dirty="0">
              <a:solidFill>
                <a:srgbClr val="290042"/>
              </a:solidFill>
            </a:endParaRPr>
          </a:p>
        </p:txBody>
      </p:sp>
      <p:sp>
        <p:nvSpPr>
          <p:cNvPr id="4" name="Shape 2"/>
          <p:cNvSpPr/>
          <p:nvPr/>
        </p:nvSpPr>
        <p:spPr>
          <a:xfrm>
            <a:off x="1143000" y="3649861"/>
            <a:ext cx="5321275" cy="5036939"/>
          </a:xfrm>
          <a:prstGeom prst="rect">
            <a:avLst/>
          </a:prstGeom>
          <a:solidFill>
            <a:srgbClr val="F7F4FA"/>
          </a:solidFill>
          <a:ln w="9525">
            <a:solidFill>
              <a:srgbClr val="290042">
                <a:alpha val="12000"/>
              </a:srgbClr>
            </a:solidFill>
            <a:prstDash val="solid"/>
          </a:ln>
        </p:spPr>
        <p:txBody>
          <a:bodyPr/>
          <a:lstStyle/>
          <a:p>
            <a:endParaRPr lang="en-US"/>
          </a:p>
        </p:txBody>
      </p:sp>
      <p:sp>
        <p:nvSpPr>
          <p:cNvPr id="5" name="Text 3"/>
          <p:cNvSpPr/>
          <p:nvPr/>
        </p:nvSpPr>
        <p:spPr>
          <a:xfrm>
            <a:off x="1609725" y="4116586"/>
            <a:ext cx="4519460" cy="381000"/>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D3121D"/>
                </a:solidFill>
                <a:latin typeface="Poppins" pitchFamily="34" charset="0"/>
                <a:ea typeface="Poppins" pitchFamily="34" charset="-122"/>
                <a:cs typeface="Poppins" pitchFamily="34" charset="-120"/>
              </a:rPr>
              <a:t>AI OUTPUT</a:t>
            </a:r>
            <a:endParaRPr lang="en-US" sz="1800" dirty="0"/>
          </a:p>
        </p:txBody>
      </p:sp>
      <p:sp>
        <p:nvSpPr>
          <p:cNvPr id="6" name="Text 4"/>
          <p:cNvSpPr/>
          <p:nvPr/>
        </p:nvSpPr>
        <p:spPr>
          <a:xfrm>
            <a:off x="1609725" y="4649986"/>
            <a:ext cx="4519460" cy="96009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300" b="1" kern="0" spc="-66" dirty="0">
                <a:solidFill>
                  <a:srgbClr val="290042"/>
                </a:solidFill>
                <a:latin typeface="Poppins" pitchFamily="34" charset="0"/>
                <a:ea typeface="Poppins" pitchFamily="34" charset="-122"/>
                <a:cs typeface="Poppins" pitchFamily="34" charset="-120"/>
              </a:rPr>
              <a:t>10× approaches per engineer</a:t>
            </a:r>
            <a:endParaRPr lang="en-US" sz="3300" dirty="0"/>
          </a:p>
        </p:txBody>
      </p:sp>
      <p:sp>
        <p:nvSpPr>
          <p:cNvPr id="7" name="Shape 5"/>
          <p:cNvSpPr/>
          <p:nvPr/>
        </p:nvSpPr>
        <p:spPr>
          <a:xfrm>
            <a:off x="1609725" y="6681596"/>
            <a:ext cx="4387825" cy="9525"/>
          </a:xfrm>
          <a:prstGeom prst="rect">
            <a:avLst/>
          </a:prstGeom>
          <a:solidFill>
            <a:srgbClr val="290042">
              <a:alpha val="12000"/>
            </a:srgbClr>
          </a:solidFill>
          <a:ln/>
        </p:spPr>
        <p:txBody>
          <a:bodyPr/>
          <a:lstStyle/>
          <a:p>
            <a:endParaRPr lang="en-US"/>
          </a:p>
        </p:txBody>
      </p:sp>
      <p:sp>
        <p:nvSpPr>
          <p:cNvPr id="8" name="Text 6"/>
          <p:cNvSpPr/>
          <p:nvPr/>
        </p:nvSpPr>
        <p:spPr>
          <a:xfrm>
            <a:off x="1609725" y="6843521"/>
            <a:ext cx="4519460" cy="1158106"/>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290042">
                    <a:alpha val="55000"/>
                  </a:srgbClr>
                </a:solidFill>
                <a:latin typeface="Poppins" pitchFamily="34" charset="0"/>
                <a:ea typeface="Poppins" pitchFamily="34" charset="-122"/>
                <a:cs typeface="Poppins" pitchFamily="34" charset="-120"/>
              </a:rPr>
              <a:t>Where engineers once tested 2, they now test 10. Output accelerates. Options multiply.</a:t>
            </a:r>
            <a:endParaRPr lang="en-US" sz="2100" dirty="0"/>
          </a:p>
        </p:txBody>
      </p:sp>
      <p:sp>
        <p:nvSpPr>
          <p:cNvPr id="9" name="Shape 7"/>
          <p:cNvSpPr/>
          <p:nvPr/>
        </p:nvSpPr>
        <p:spPr>
          <a:xfrm>
            <a:off x="6483325" y="3649862"/>
            <a:ext cx="5321275" cy="5036938"/>
          </a:xfrm>
          <a:prstGeom prst="rect">
            <a:avLst/>
          </a:prstGeom>
          <a:solidFill>
            <a:srgbClr val="F7F4FA"/>
          </a:solidFill>
          <a:ln w="9525">
            <a:solidFill>
              <a:srgbClr val="290042">
                <a:alpha val="12000"/>
              </a:srgbClr>
            </a:solidFill>
            <a:prstDash val="solid"/>
          </a:ln>
        </p:spPr>
        <p:txBody>
          <a:bodyPr/>
          <a:lstStyle/>
          <a:p>
            <a:endParaRPr lang="en-US"/>
          </a:p>
        </p:txBody>
      </p:sp>
      <p:sp>
        <p:nvSpPr>
          <p:cNvPr id="10" name="Text 8"/>
          <p:cNvSpPr/>
          <p:nvPr/>
        </p:nvSpPr>
        <p:spPr>
          <a:xfrm>
            <a:off x="6950050" y="4116586"/>
            <a:ext cx="4519460" cy="381000"/>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D3121D"/>
                </a:solidFill>
                <a:latin typeface="Poppins" pitchFamily="34" charset="0"/>
                <a:ea typeface="Poppins" pitchFamily="34" charset="-122"/>
                <a:cs typeface="Poppins" pitchFamily="34" charset="-120"/>
              </a:rPr>
              <a:t>REVIEW CAPACITY</a:t>
            </a:r>
            <a:endParaRPr lang="en-US" sz="1800" dirty="0"/>
          </a:p>
        </p:txBody>
      </p:sp>
      <p:sp>
        <p:nvSpPr>
          <p:cNvPr id="11" name="Text 9"/>
          <p:cNvSpPr/>
          <p:nvPr/>
        </p:nvSpPr>
        <p:spPr>
          <a:xfrm>
            <a:off x="6950050" y="4649986"/>
            <a:ext cx="4519460" cy="96009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300" b="1" kern="0" spc="-66" dirty="0">
                <a:solidFill>
                  <a:srgbClr val="290042"/>
                </a:solidFill>
                <a:latin typeface="Poppins" pitchFamily="34" charset="0"/>
                <a:ea typeface="Poppins" pitchFamily="34" charset="-122"/>
                <a:cs typeface="Poppins" pitchFamily="34" charset="-120"/>
              </a:rPr>
              <a:t>Flat — while output accelerates</a:t>
            </a:r>
            <a:endParaRPr lang="en-US" sz="3300" dirty="0"/>
          </a:p>
        </p:txBody>
      </p:sp>
      <p:sp>
        <p:nvSpPr>
          <p:cNvPr id="12" name="Shape 10"/>
          <p:cNvSpPr/>
          <p:nvPr/>
        </p:nvSpPr>
        <p:spPr>
          <a:xfrm>
            <a:off x="6950050" y="6681596"/>
            <a:ext cx="4387825" cy="9525"/>
          </a:xfrm>
          <a:prstGeom prst="rect">
            <a:avLst/>
          </a:prstGeom>
          <a:solidFill>
            <a:srgbClr val="290042">
              <a:alpha val="12000"/>
            </a:srgbClr>
          </a:solidFill>
          <a:ln/>
        </p:spPr>
        <p:txBody>
          <a:bodyPr/>
          <a:lstStyle/>
          <a:p>
            <a:endParaRPr lang="en-US"/>
          </a:p>
        </p:txBody>
      </p:sp>
      <p:sp>
        <p:nvSpPr>
          <p:cNvPr id="13" name="Text 11"/>
          <p:cNvSpPr/>
          <p:nvPr/>
        </p:nvSpPr>
        <p:spPr>
          <a:xfrm>
            <a:off x="6950050" y="6843521"/>
            <a:ext cx="4519460" cy="1158106"/>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290042">
                    <a:alpha val="55000"/>
                  </a:srgbClr>
                </a:solidFill>
                <a:latin typeface="Poppins" pitchFamily="34" charset="0"/>
                <a:ea typeface="Poppins" pitchFamily="34" charset="-122"/>
                <a:cs typeface="Poppins" pitchFamily="34" charset="-120"/>
              </a:rPr>
              <a:t>The team that caught the last Code Red doesn't grow. The bottleneck compounds.</a:t>
            </a:r>
            <a:endParaRPr lang="en-US" sz="2100" dirty="0"/>
          </a:p>
        </p:txBody>
      </p:sp>
      <p:sp>
        <p:nvSpPr>
          <p:cNvPr id="15" name="Text 13"/>
          <p:cNvSpPr/>
          <p:nvPr/>
        </p:nvSpPr>
        <p:spPr>
          <a:xfrm>
            <a:off x="12290375" y="4116586"/>
            <a:ext cx="4519537" cy="381000"/>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D3121D"/>
                </a:solidFill>
                <a:latin typeface="Poppins" pitchFamily="34" charset="0"/>
                <a:ea typeface="Poppins" pitchFamily="34" charset="-122"/>
                <a:cs typeface="Poppins" pitchFamily="34" charset="-120"/>
              </a:rPr>
              <a:t>AUTHORSHIP CONTEXT</a:t>
            </a:r>
            <a:endParaRPr lang="en-US" sz="1800" dirty="0"/>
          </a:p>
        </p:txBody>
      </p:sp>
      <p:sp>
        <p:nvSpPr>
          <p:cNvPr id="16" name="Text 14"/>
          <p:cNvSpPr/>
          <p:nvPr/>
        </p:nvSpPr>
        <p:spPr>
          <a:xfrm>
            <a:off x="12290375" y="4649986"/>
            <a:ext cx="4519537" cy="49909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300" b="1" kern="0" spc="-66" dirty="0">
                <a:solidFill>
                  <a:srgbClr val="290042"/>
                </a:solidFill>
                <a:latin typeface="Poppins" pitchFamily="34" charset="0"/>
                <a:ea typeface="Poppins" pitchFamily="34" charset="-122"/>
                <a:cs typeface="Poppins" pitchFamily="34" charset="-120"/>
              </a:rPr>
              <a:t>Gone</a:t>
            </a:r>
            <a:endParaRPr lang="en-US" sz="3300" dirty="0"/>
          </a:p>
        </p:txBody>
      </p:sp>
      <p:sp>
        <p:nvSpPr>
          <p:cNvPr id="17" name="Shape 15"/>
          <p:cNvSpPr/>
          <p:nvPr/>
        </p:nvSpPr>
        <p:spPr>
          <a:xfrm>
            <a:off x="12290375" y="6681596"/>
            <a:ext cx="4387900" cy="9525"/>
          </a:xfrm>
          <a:prstGeom prst="rect">
            <a:avLst/>
          </a:prstGeom>
          <a:solidFill>
            <a:srgbClr val="290042">
              <a:alpha val="12000"/>
            </a:srgbClr>
          </a:solidFill>
          <a:ln/>
        </p:spPr>
        <p:txBody>
          <a:bodyPr/>
          <a:lstStyle/>
          <a:p>
            <a:endParaRPr lang="en-US"/>
          </a:p>
        </p:txBody>
      </p:sp>
      <p:sp>
        <p:nvSpPr>
          <p:cNvPr id="18" name="Text 16"/>
          <p:cNvSpPr/>
          <p:nvPr/>
        </p:nvSpPr>
        <p:spPr>
          <a:xfrm>
            <a:off x="12290375" y="6843521"/>
            <a:ext cx="4519537" cy="1531441"/>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100" dirty="0">
                <a:solidFill>
                  <a:srgbClr val="290042">
                    <a:alpha val="55000"/>
                  </a:srgbClr>
                </a:solidFill>
                <a:latin typeface="Poppins" pitchFamily="34" charset="0"/>
                <a:ea typeface="Poppins" pitchFamily="34" charset="-122"/>
                <a:cs typeface="Poppins" pitchFamily="34" charset="-120"/>
              </a:rPr>
              <a:t>AI-generated code belongs to no one. When the next exception cycle starts, there's no trail to trace.</a:t>
            </a:r>
            <a:endParaRPr lang="en-US" sz="2100" dirty="0"/>
          </a:p>
        </p:txBody>
      </p:sp>
      <p:pic>
        <p:nvPicPr>
          <p:cNvPr id="20" name="Image 1" descr="preencoded.png">
            <a:extLst>
              <a:ext uri="{FF2B5EF4-FFF2-40B4-BE49-F238E27FC236}">
                <a16:creationId xmlns:a16="http://schemas.microsoft.com/office/drawing/2014/main" id="{86174529-1CB4-A9E1-9626-D463E553199C}"/>
              </a:ext>
            </a:extLst>
          </p:cNvPr>
          <p:cNvPicPr>
            <a:picLocks noChangeAspect="1"/>
          </p:cNvPicPr>
          <p:nvPr/>
        </p:nvPicPr>
        <p:blipFill>
          <a:blip r:embed="rId3"/>
          <a:stretch>
            <a:fillRect/>
          </a:stretch>
        </p:blipFill>
        <p:spPr>
          <a:xfrm>
            <a:off x="15962709" y="9296400"/>
            <a:ext cx="1563291" cy="495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5" grpId="0" animBg="1"/>
      <p:bldP spid="16" grpId="0" animBg="1"/>
      <p:bldP spid="17"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14400"/>
            <a:ext cx="16482060" cy="38100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D3121D"/>
                </a:solidFill>
                <a:latin typeface="Poppins" pitchFamily="34" charset="0"/>
                <a:ea typeface="Poppins" pitchFamily="34" charset="-122"/>
                <a:cs typeface="Poppins" pitchFamily="34" charset="-120"/>
              </a:rPr>
              <a:t>THE SOLUTION</a:t>
            </a:r>
            <a:endParaRPr lang="en-US" sz="1800" dirty="0"/>
          </a:p>
        </p:txBody>
      </p:sp>
      <p:sp>
        <p:nvSpPr>
          <p:cNvPr id="3" name="Text 1"/>
          <p:cNvSpPr/>
          <p:nvPr/>
        </p:nvSpPr>
        <p:spPr>
          <a:xfrm>
            <a:off x="1143000" y="1600200"/>
            <a:ext cx="13735050" cy="1976512"/>
          </a:xfrm>
          <a:prstGeom prst="rect">
            <a:avLst/>
          </a:prstGeom>
          <a:noFill/>
          <a:ln/>
        </p:spPr>
        <p:txBody>
          <a:bodyPr wrap="square" lIns="25400" tIns="25400" rIns="25400" bIns="25400" rtlCol="0" anchor="t">
            <a:normAutofit/>
          </a:bodyPr>
          <a:lstStyle/>
          <a:p>
            <a:pPr marL="0" indent="0" algn="l">
              <a:lnSpc>
                <a:spcPct val="106000"/>
              </a:lnSpc>
              <a:buNone/>
            </a:pPr>
            <a:r>
              <a:rPr lang="en-US" sz="4800" b="1" kern="0" spc="-120" dirty="0">
                <a:solidFill>
                  <a:srgbClr val="290042"/>
                </a:solidFill>
                <a:latin typeface="Poppins" pitchFamily="34" charset="0"/>
                <a:ea typeface="Poppins" pitchFamily="34" charset="-122"/>
                <a:cs typeface="Poppins" pitchFamily="34" charset="-120"/>
              </a:rPr>
              <a:t>Visibility at the PR. </a:t>
            </a:r>
            <a:r>
              <a:rPr lang="en-US" sz="4800" b="1" kern="0" spc="-120" dirty="0">
                <a:solidFill>
                  <a:srgbClr val="D3121D"/>
                </a:solidFill>
                <a:latin typeface="Poppins" pitchFamily="34" charset="0"/>
                <a:ea typeface="Poppins" pitchFamily="34" charset="-122"/>
                <a:cs typeface="Poppins" pitchFamily="34" charset="-120"/>
              </a:rPr>
              <a:t>Before AI-Generated Code </a:t>
            </a:r>
            <a:r>
              <a:rPr lang="en-US" sz="4800" b="1" kern="0" spc="-120" dirty="0">
                <a:solidFill>
                  <a:srgbClr val="290042"/>
                </a:solidFill>
                <a:latin typeface="Poppins" pitchFamily="34" charset="0"/>
                <a:ea typeface="Poppins" pitchFamily="34" charset="-122"/>
                <a:cs typeface="Poppins" pitchFamily="34" charset="-120"/>
              </a:rPr>
              <a:t>Reaches Your Infrastructure.</a:t>
            </a:r>
            <a:endParaRPr lang="en-US" sz="4800" dirty="0"/>
          </a:p>
        </p:txBody>
      </p:sp>
      <p:sp>
        <p:nvSpPr>
          <p:cNvPr id="4" name="Shape 2"/>
          <p:cNvSpPr/>
          <p:nvPr/>
        </p:nvSpPr>
        <p:spPr>
          <a:xfrm>
            <a:off x="1143000" y="4072012"/>
            <a:ext cx="16002000" cy="9525"/>
          </a:xfrm>
          <a:prstGeom prst="rect">
            <a:avLst/>
          </a:prstGeom>
          <a:solidFill>
            <a:srgbClr val="290042">
              <a:alpha val="12000"/>
            </a:srgbClr>
          </a:solidFill>
          <a:ln/>
        </p:spPr>
        <p:txBody>
          <a:bodyPr/>
          <a:lstStyle/>
          <a:p>
            <a:endParaRPr lang="en-US"/>
          </a:p>
        </p:txBody>
      </p:sp>
      <p:sp>
        <p:nvSpPr>
          <p:cNvPr id="5" name="Text 3"/>
          <p:cNvSpPr/>
          <p:nvPr/>
        </p:nvSpPr>
        <p:spPr>
          <a:xfrm>
            <a:off x="1143000" y="4529212"/>
            <a:ext cx="685800" cy="3810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D3121D"/>
                </a:solidFill>
                <a:latin typeface="Poppins" pitchFamily="34" charset="0"/>
                <a:ea typeface="Poppins" pitchFamily="34" charset="-122"/>
                <a:cs typeface="Poppins" pitchFamily="34" charset="-120"/>
              </a:rPr>
              <a:t>01</a:t>
            </a:r>
            <a:endParaRPr lang="en-US" sz="1800" dirty="0"/>
          </a:p>
        </p:txBody>
      </p:sp>
      <p:sp>
        <p:nvSpPr>
          <p:cNvPr id="6" name="Text 4"/>
          <p:cNvSpPr/>
          <p:nvPr/>
        </p:nvSpPr>
        <p:spPr>
          <a:xfrm>
            <a:off x="2133600" y="4424437"/>
            <a:ext cx="15461742" cy="47625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b="1" kern="0" spc="-45" dirty="0">
                <a:solidFill>
                  <a:srgbClr val="290042"/>
                </a:solidFill>
                <a:latin typeface="Poppins" pitchFamily="34" charset="0"/>
                <a:ea typeface="Poppins" pitchFamily="34" charset="-122"/>
                <a:cs typeface="Poppins" pitchFamily="34" charset="-120"/>
              </a:rPr>
              <a:t>The gate lives at the PR. </a:t>
            </a:r>
            <a:r>
              <a:rPr lang="en-US" sz="3000" kern="0" spc="-45" dirty="0">
                <a:solidFill>
                  <a:srgbClr val="290042">
                    <a:alpha val="45000"/>
                  </a:srgbClr>
                </a:solidFill>
                <a:latin typeface="Poppins" pitchFamily="34" charset="0"/>
                <a:ea typeface="Poppins" pitchFamily="34" charset="-122"/>
                <a:cs typeface="Poppins" pitchFamily="34" charset="-120"/>
              </a:rPr>
              <a:t>Not after the merge.</a:t>
            </a:r>
            <a:endParaRPr lang="en-US" sz="3000" dirty="0"/>
          </a:p>
        </p:txBody>
      </p:sp>
      <p:sp>
        <p:nvSpPr>
          <p:cNvPr id="7" name="Shape 5"/>
          <p:cNvSpPr/>
          <p:nvPr/>
        </p:nvSpPr>
        <p:spPr>
          <a:xfrm>
            <a:off x="1143000" y="5215012"/>
            <a:ext cx="16002000" cy="9525"/>
          </a:xfrm>
          <a:prstGeom prst="rect">
            <a:avLst/>
          </a:prstGeom>
          <a:solidFill>
            <a:srgbClr val="290042">
              <a:alpha val="12000"/>
            </a:srgbClr>
          </a:solidFill>
          <a:ln/>
        </p:spPr>
        <p:txBody>
          <a:bodyPr/>
          <a:lstStyle/>
          <a:p>
            <a:endParaRPr lang="en-US"/>
          </a:p>
        </p:txBody>
      </p:sp>
      <p:sp>
        <p:nvSpPr>
          <p:cNvPr id="8" name="Text 6"/>
          <p:cNvSpPr/>
          <p:nvPr/>
        </p:nvSpPr>
        <p:spPr>
          <a:xfrm>
            <a:off x="1143000" y="5672212"/>
            <a:ext cx="685800" cy="3810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D3121D"/>
                </a:solidFill>
                <a:latin typeface="Poppins" pitchFamily="34" charset="0"/>
                <a:ea typeface="Poppins" pitchFamily="34" charset="-122"/>
                <a:cs typeface="Poppins" pitchFamily="34" charset="-120"/>
              </a:rPr>
              <a:t>02</a:t>
            </a:r>
            <a:endParaRPr lang="en-US" sz="1800" dirty="0"/>
          </a:p>
        </p:txBody>
      </p:sp>
      <p:sp>
        <p:nvSpPr>
          <p:cNvPr id="9" name="Text 7"/>
          <p:cNvSpPr/>
          <p:nvPr/>
        </p:nvSpPr>
        <p:spPr>
          <a:xfrm>
            <a:off x="2133600" y="5567437"/>
            <a:ext cx="15461742" cy="47625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b="1" kern="0" spc="-45" dirty="0">
                <a:solidFill>
                  <a:srgbClr val="290042"/>
                </a:solidFill>
                <a:latin typeface="Poppins" pitchFamily="34" charset="0"/>
                <a:ea typeface="Poppins" pitchFamily="34" charset="-122"/>
                <a:cs typeface="Poppins" pitchFamily="34" charset="-120"/>
              </a:rPr>
              <a:t>Human or AI-generated. </a:t>
            </a:r>
            <a:r>
              <a:rPr lang="en-US" sz="3000" kern="0" spc="-45" dirty="0">
                <a:solidFill>
                  <a:srgbClr val="290042">
                    <a:alpha val="45000"/>
                  </a:srgbClr>
                </a:solidFill>
                <a:latin typeface="Poppins" pitchFamily="34" charset="0"/>
                <a:ea typeface="Poppins" pitchFamily="34" charset="-122"/>
                <a:cs typeface="Poppins" pitchFamily="34" charset="-120"/>
              </a:rPr>
              <a:t>Same rules. Every time.</a:t>
            </a:r>
            <a:endParaRPr lang="en-US" sz="3000" dirty="0"/>
          </a:p>
        </p:txBody>
      </p:sp>
      <p:sp>
        <p:nvSpPr>
          <p:cNvPr id="10" name="Shape 8"/>
          <p:cNvSpPr/>
          <p:nvPr/>
        </p:nvSpPr>
        <p:spPr>
          <a:xfrm>
            <a:off x="1143000" y="7501012"/>
            <a:ext cx="16002000" cy="9525"/>
          </a:xfrm>
          <a:prstGeom prst="rect">
            <a:avLst/>
          </a:prstGeom>
          <a:solidFill>
            <a:srgbClr val="290042">
              <a:alpha val="12000"/>
            </a:srgbClr>
          </a:solidFill>
          <a:ln/>
        </p:spPr>
        <p:txBody>
          <a:bodyPr/>
          <a:lstStyle/>
          <a:p>
            <a:endParaRPr lang="en-US"/>
          </a:p>
        </p:txBody>
      </p:sp>
      <p:sp>
        <p:nvSpPr>
          <p:cNvPr id="11" name="Shape 9"/>
          <p:cNvSpPr/>
          <p:nvPr/>
        </p:nvSpPr>
        <p:spPr>
          <a:xfrm>
            <a:off x="1143000" y="6358012"/>
            <a:ext cx="16002000" cy="9525"/>
          </a:xfrm>
          <a:prstGeom prst="rect">
            <a:avLst/>
          </a:prstGeom>
          <a:solidFill>
            <a:srgbClr val="290042">
              <a:alpha val="12000"/>
            </a:srgbClr>
          </a:solidFill>
          <a:ln/>
        </p:spPr>
        <p:txBody>
          <a:bodyPr/>
          <a:lstStyle/>
          <a:p>
            <a:endParaRPr lang="en-US"/>
          </a:p>
        </p:txBody>
      </p:sp>
      <p:sp>
        <p:nvSpPr>
          <p:cNvPr id="12" name="Text 10"/>
          <p:cNvSpPr/>
          <p:nvPr/>
        </p:nvSpPr>
        <p:spPr>
          <a:xfrm>
            <a:off x="1143000" y="6815212"/>
            <a:ext cx="685800" cy="3810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D3121D"/>
                </a:solidFill>
                <a:latin typeface="Poppins" pitchFamily="34" charset="0"/>
                <a:ea typeface="Poppins" pitchFamily="34" charset="-122"/>
                <a:cs typeface="Poppins" pitchFamily="34" charset="-120"/>
              </a:rPr>
              <a:t>03</a:t>
            </a:r>
            <a:endParaRPr lang="en-US" sz="1800" dirty="0"/>
          </a:p>
        </p:txBody>
      </p:sp>
      <p:sp>
        <p:nvSpPr>
          <p:cNvPr id="13" name="Text 11"/>
          <p:cNvSpPr/>
          <p:nvPr/>
        </p:nvSpPr>
        <p:spPr>
          <a:xfrm>
            <a:off x="2133600" y="6710437"/>
            <a:ext cx="15461742" cy="47625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b="1" kern="0" spc="-45" dirty="0">
                <a:solidFill>
                  <a:srgbClr val="290042"/>
                </a:solidFill>
                <a:latin typeface="Poppins" pitchFamily="34" charset="0"/>
                <a:ea typeface="Poppins" pitchFamily="34" charset="-122"/>
                <a:cs typeface="Poppins" pitchFamily="34" charset="-120"/>
              </a:rPr>
              <a:t>Review quality scales. </a:t>
            </a:r>
            <a:r>
              <a:rPr lang="en-US" sz="3000" kern="0" spc="-45" dirty="0">
                <a:solidFill>
                  <a:srgbClr val="290042">
                    <a:alpha val="45000"/>
                  </a:srgbClr>
                </a:solidFill>
                <a:latin typeface="Poppins" pitchFamily="34" charset="0"/>
                <a:ea typeface="Poppins" pitchFamily="34" charset="-122"/>
                <a:cs typeface="Poppins" pitchFamily="34" charset="-120"/>
              </a:rPr>
              <a:t>The bottleneck doesn't win.</a:t>
            </a:r>
            <a:endParaRPr lang="en-US" sz="3000" dirty="0"/>
          </a:p>
        </p:txBody>
      </p:sp>
      <p:pic>
        <p:nvPicPr>
          <p:cNvPr id="15" name="Image 1" descr="preencoded.png">
            <a:extLst>
              <a:ext uri="{FF2B5EF4-FFF2-40B4-BE49-F238E27FC236}">
                <a16:creationId xmlns:a16="http://schemas.microsoft.com/office/drawing/2014/main" id="{D44120B6-C33D-4F0E-DC56-58FD653BC01D}"/>
              </a:ext>
            </a:extLst>
          </p:cNvPr>
          <p:cNvPicPr>
            <a:picLocks noChangeAspect="1"/>
          </p:cNvPicPr>
          <p:nvPr/>
        </p:nvPicPr>
        <p:blipFill>
          <a:blip r:embed="rId3"/>
          <a:stretch>
            <a:fillRect/>
          </a:stretch>
        </p:blipFill>
        <p:spPr>
          <a:xfrm>
            <a:off x="15962709" y="9296400"/>
            <a:ext cx="1563291" cy="4953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440455" y="4648200"/>
            <a:ext cx="3407090" cy="118110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9000" b="1" kern="0" spc="-360" dirty="0">
                <a:solidFill>
                  <a:srgbClr val="290042"/>
                </a:solidFill>
                <a:latin typeface="Poppins" pitchFamily="34" charset="0"/>
                <a:ea typeface="Poppins" pitchFamily="34" charset="-122"/>
                <a:cs typeface="Poppins" pitchFamily="34" charset="-120"/>
              </a:rPr>
              <a:t>Demo</a:t>
            </a:r>
            <a:endParaRPr lang="en-US" sz="9000" dirty="0"/>
          </a:p>
        </p:txBody>
      </p:sp>
      <p:pic>
        <p:nvPicPr>
          <p:cNvPr id="4" name="Image 1" descr="preencoded.png">
            <a:extLst>
              <a:ext uri="{FF2B5EF4-FFF2-40B4-BE49-F238E27FC236}">
                <a16:creationId xmlns:a16="http://schemas.microsoft.com/office/drawing/2014/main" id="{37DB396A-EDD4-D5C2-BA18-22097836F543}"/>
              </a:ext>
            </a:extLst>
          </p:cNvPr>
          <p:cNvPicPr>
            <a:picLocks noChangeAspect="1"/>
          </p:cNvPicPr>
          <p:nvPr/>
        </p:nvPicPr>
        <p:blipFill>
          <a:blip r:embed="rId3"/>
          <a:stretch>
            <a:fillRect/>
          </a:stretch>
        </p:blipFill>
        <p:spPr>
          <a:xfrm>
            <a:off x="15962709" y="9296400"/>
            <a:ext cx="1563291" cy="4953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97156" y="3817069"/>
            <a:ext cx="693688" cy="381000"/>
          </a:xfrm>
          <a:prstGeom prst="rect">
            <a:avLst/>
          </a:prstGeom>
          <a:noFill/>
          <a:ln/>
        </p:spPr>
        <p:txBody>
          <a:bodyPr wrap="square" lIns="25400" tIns="25400" rIns="25400" bIns="25400" rtlCol="0" anchor="t">
            <a:normAutofit/>
          </a:bodyPr>
          <a:lstStyle/>
          <a:p>
            <a:pPr marL="0" indent="0" algn="ctr">
              <a:buNone/>
            </a:pPr>
            <a:r>
              <a:rPr lang="en-US" sz="1800" b="1" kern="0" spc="252" dirty="0">
                <a:solidFill>
                  <a:srgbClr val="D3121D"/>
                </a:solidFill>
                <a:latin typeface="Poppins" pitchFamily="34" charset="0"/>
                <a:ea typeface="Poppins" pitchFamily="34" charset="-122"/>
                <a:cs typeface="Poppins" pitchFamily="34" charset="-120"/>
              </a:rPr>
              <a:t>Q&amp;A</a:t>
            </a:r>
            <a:endParaRPr lang="en-US" sz="1800" dirty="0"/>
          </a:p>
        </p:txBody>
      </p:sp>
      <p:sp>
        <p:nvSpPr>
          <p:cNvPr id="3" name="Text 1"/>
          <p:cNvSpPr/>
          <p:nvPr/>
        </p:nvSpPr>
        <p:spPr>
          <a:xfrm>
            <a:off x="4268901" y="4617169"/>
            <a:ext cx="9750123" cy="1519386"/>
          </a:xfrm>
          <a:prstGeom prst="rect">
            <a:avLst/>
          </a:prstGeom>
          <a:noFill/>
          <a:ln/>
        </p:spPr>
        <p:txBody>
          <a:bodyPr wrap="square" lIns="25400" tIns="25400" rIns="25400" bIns="25400" rtlCol="0" anchor="t">
            <a:normAutofit fontScale="92500" lnSpcReduction="20000"/>
          </a:bodyPr>
          <a:lstStyle/>
          <a:p>
            <a:pPr marL="0" indent="0" algn="ctr">
              <a:lnSpc>
                <a:spcPct val="108000"/>
              </a:lnSpc>
              <a:buNone/>
            </a:pPr>
            <a:r>
              <a:rPr lang="en-US" sz="5400" b="1" kern="0" spc="-162" dirty="0">
                <a:solidFill>
                  <a:srgbClr val="290042"/>
                </a:solidFill>
                <a:latin typeface="Poppins" pitchFamily="34" charset="0"/>
                <a:ea typeface="Poppins" pitchFamily="34" charset="-122"/>
                <a:cs typeface="Poppins" pitchFamily="34" charset="-120"/>
              </a:rPr>
              <a:t>How does Shopify govern </a:t>
            </a:r>
            <a:r>
              <a:rPr lang="en-US" sz="5400" b="1" kern="0" spc="-162" dirty="0">
                <a:solidFill>
                  <a:srgbClr val="D3121D"/>
                </a:solidFill>
                <a:latin typeface="Poppins" pitchFamily="34" charset="0"/>
                <a:ea typeface="Poppins" pitchFamily="34" charset="-122"/>
                <a:cs typeface="Poppins" pitchFamily="34" charset="-120"/>
              </a:rPr>
              <a:t>AI-generated code </a:t>
            </a:r>
            <a:r>
              <a:rPr lang="en-US" sz="5400" b="1" kern="0" spc="-162" dirty="0">
                <a:solidFill>
                  <a:srgbClr val="290042"/>
                </a:solidFill>
                <a:latin typeface="Poppins" pitchFamily="34" charset="0"/>
                <a:ea typeface="Poppins" pitchFamily="34" charset="-122"/>
                <a:cs typeface="Poppins" pitchFamily="34" charset="-120"/>
              </a:rPr>
              <a:t>at scale?</a:t>
            </a:r>
            <a:endParaRPr lang="en-US" sz="5400" dirty="0"/>
          </a:p>
        </p:txBody>
      </p:sp>
      <p:sp>
        <p:nvSpPr>
          <p:cNvPr id="4" name="Shape 2"/>
          <p:cNvSpPr/>
          <p:nvPr/>
        </p:nvSpPr>
        <p:spPr>
          <a:xfrm>
            <a:off x="8801100" y="6593756"/>
            <a:ext cx="685800" cy="28575"/>
          </a:xfrm>
          <a:prstGeom prst="roundRect">
            <a:avLst>
              <a:gd name="adj" fmla="val 50000"/>
            </a:avLst>
          </a:prstGeom>
          <a:solidFill>
            <a:srgbClr val="D3121D"/>
          </a:solidFill>
          <a:ln/>
        </p:spPr>
        <p:txBody>
          <a:bodyPr/>
          <a:lstStyle/>
          <a:p>
            <a:endParaRPr lang="en-US"/>
          </a:p>
        </p:txBody>
      </p:sp>
      <p:pic>
        <p:nvPicPr>
          <p:cNvPr id="6" name="Image 1" descr="preencoded.png">
            <a:extLst>
              <a:ext uri="{FF2B5EF4-FFF2-40B4-BE49-F238E27FC236}">
                <a16:creationId xmlns:a16="http://schemas.microsoft.com/office/drawing/2014/main" id="{8EB98A6F-3C1D-19BE-DA5C-8F89CB80FF7F}"/>
              </a:ext>
            </a:extLst>
          </p:cNvPr>
          <p:cNvPicPr>
            <a:picLocks noChangeAspect="1"/>
          </p:cNvPicPr>
          <p:nvPr/>
        </p:nvPicPr>
        <p:blipFill>
          <a:blip r:embed="rId3"/>
          <a:stretch>
            <a:fillRect/>
          </a:stretch>
        </p:blipFill>
        <p:spPr>
          <a:xfrm>
            <a:off x="15962709" y="9296400"/>
            <a:ext cx="1563291" cy="4953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1036</Words>
  <Application>Microsoft Macintosh PowerPoint</Application>
  <PresentationFormat>Custom</PresentationFormat>
  <Paragraphs>58</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Kevin Horner</cp:lastModifiedBy>
  <cp:revision>2</cp:revision>
  <dcterms:created xsi:type="dcterms:W3CDTF">2026-04-25T21:43:51Z</dcterms:created>
  <dcterms:modified xsi:type="dcterms:W3CDTF">2026-04-25T22:26:19Z</dcterms:modified>
</cp:coreProperties>
</file>